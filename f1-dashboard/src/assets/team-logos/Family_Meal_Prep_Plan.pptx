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B850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645920"/>
            <a:ext cx="4114800" cy="4114800"/>
          </a:xfrm>
          <a:prstGeom prst="ellipse">
            <a:avLst/>
          </a:prstGeom>
          <a:solidFill>
            <a:srgbClr val="C96A5C"/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4754880"/>
            <a:ext cx="3657600" cy="3657600"/>
          </a:xfrm>
          <a:prstGeom prst="ellipse">
            <a:avLst/>
          </a:prstGeom>
          <a:solidFill>
            <a:srgbClr val="A6453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237744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Family Meal Prep Plan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42900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freezer &amp; fridge-friendly recipes for a family of 3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9776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E9C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Servings · Ingredients · Macros · Micronutrients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961120" y="411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 1 OF 7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657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Couscous Salad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24128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B8504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102412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FRIDGE ONLY · 4-5 DAYS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3246120" y="102412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Serves 7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3931920" cy="4572000"/>
          </a:xfrm>
          <a:prstGeom prst="roundRect">
            <a:avLst>
              <a:gd name="adj" fmla="val 2791"/>
            </a:avLst>
          </a:prstGeom>
          <a:solidFill>
            <a:srgbClr val="EAF0E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17830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5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INGREDIENTS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194560"/>
            <a:ext cx="33832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1000"/>
              </a:spcAft>
              <a:buSzPct val="100000"/>
              <a:buChar char="●"/>
            </a:pPr>
            <a:r>
              <a:rPr lang="en-US" sz="14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cups couscous</a:t>
            </a:r>
            <a:endParaRPr lang="en-US" sz="1450" dirty="0"/>
          </a:p>
          <a:p>
            <a:pPr algn="l" marL="177800" indent="-177800">
              <a:spcAft>
                <a:spcPts val="1000"/>
              </a:spcAft>
              <a:buSzPct val="100000"/>
              <a:buChar char="●"/>
            </a:pPr>
            <a:r>
              <a:rPr lang="en-US" sz="14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½ cucumber, diced</a:t>
            </a:r>
            <a:endParaRPr lang="en-US" sz="1450" dirty="0"/>
          </a:p>
          <a:p>
            <a:pPr algn="l" marL="177800" indent="-177800">
              <a:spcAft>
                <a:spcPts val="1000"/>
              </a:spcAft>
              <a:buSzPct val="100000"/>
              <a:buChar char="●"/>
            </a:pPr>
            <a:r>
              <a:rPr lang="en-US" sz="14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tomatoes, deseeded &amp; diced</a:t>
            </a:r>
            <a:endParaRPr lang="en-US" sz="1450" dirty="0"/>
          </a:p>
          <a:p>
            <a:pPr algn="l" marL="177800" indent="-177800">
              <a:spcAft>
                <a:spcPts val="1000"/>
              </a:spcAft>
              <a:buSzPct val="100000"/>
              <a:buChar char="●"/>
            </a:pPr>
            <a:r>
              <a:rPr lang="en-US" sz="14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gherkins, diced</a:t>
            </a:r>
            <a:endParaRPr lang="en-US" sz="1450" dirty="0"/>
          </a:p>
          <a:p>
            <a:pPr algn="l" marL="177800" indent="-177800">
              <a:spcAft>
                <a:spcPts val="1000"/>
              </a:spcAft>
              <a:buSzPct val="100000"/>
              <a:buChar char="●"/>
            </a:pPr>
            <a:r>
              <a:rPr lang="en-US" sz="14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½ can chickpeas, drained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4663440" y="1600200"/>
            <a:ext cx="3063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3DED7"/>
            </a:solidFill>
            <a:prstDash val="solid"/>
          </a:ln>
          <a:effectLst>
            <a:outerShdw sx="100000" sy="100000" kx="0" ky="0" algn="bl" rotWithShape="0" blurRad="76200" dist="25400" dir="5400000">
              <a:srgbClr val="B0AAA0">
                <a:alpha val="2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663440" y="170992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413</a:t>
            </a:r>
            <a:endParaRPr lang="en-US" sz="460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25146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kcal / serving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01000" y="1600200"/>
            <a:ext cx="3063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3DED7"/>
            </a:solidFill>
            <a:prstDash val="solid"/>
          </a:ln>
          <a:effectLst>
            <a:outerShdw sx="100000" sy="100000" kx="0" ky="0" algn="bl" rotWithShape="0" blurRad="76200" dist="25400" dir="5400000">
              <a:srgbClr val="B0AAA0">
                <a:alpha val="2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001000" y="170992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5C7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15g</a:t>
            </a:r>
            <a:endParaRPr lang="en-US" sz="4600" dirty="0"/>
          </a:p>
        </p:txBody>
      </p:sp>
      <p:sp>
        <p:nvSpPr>
          <p:cNvPr id="15" name="Text 13"/>
          <p:cNvSpPr txBox="1"/>
          <p:nvPr/>
        </p:nvSpPr>
        <p:spPr>
          <a:xfrm>
            <a:off x="8001000" y="25146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protein / serving</a:t>
            </a:r>
            <a:endParaRPr lang="en-US" sz="1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3246120"/>
          <a:ext cx="6400800" cy="914400"/>
        </p:xfrm>
        <a:graphic>
          <a:graphicData uri="http://schemas.openxmlformats.org/drawingml/2006/table">
            <a:tbl>
              <a:tblPr/>
              <a:tblGrid>
                <a:gridCol w="2133600"/>
                <a:gridCol w="2133600"/>
                <a:gridCol w="21336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CARBS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FIBER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84g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1g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7g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Text 14"/>
          <p:cNvSpPr txBox="1"/>
          <p:nvPr/>
        </p:nvSpPr>
        <p:spPr>
          <a:xfrm>
            <a:off x="4663440" y="4206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MICRONUTRIENTS PER SERVING</a:t>
            </a:r>
            <a:endParaRPr lang="en-US" sz="1100" dirty="0"/>
          </a:p>
        </p:txBody>
      </p:sp>
      <p:graphicFrame>
        <p:nvGraphicFramePr>
          <p:cNvPr id="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4526280"/>
          <a:ext cx="6400800" cy="1234440"/>
        </p:xfrm>
        <a:graphic>
          <a:graphicData uri="http://schemas.openxmlformats.org/drawingml/2006/table">
            <a:tbl>
              <a:tblPr/>
              <a:tblGrid>
                <a:gridCol w="1066800"/>
                <a:gridCol w="1066800"/>
                <a:gridCol w="1066800"/>
                <a:gridCol w="1066800"/>
                <a:gridCol w="1066800"/>
                <a:gridCol w="1066800"/>
              </a:tblGrid>
              <a:tr h="6172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Sodium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7BEA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Potassium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7BEA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Vit 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7BEA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Vit 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7BEA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7BEA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Calcium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7BEAE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158mg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357mg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21mcg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7mg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1.7mg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42mg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961120" y="411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 2 OF 7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657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Chicken Stew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24128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A7BEA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102412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FREEZER-FRIENDLY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3246120" y="102412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Serves 7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3931920" cy="4572000"/>
          </a:xfrm>
          <a:prstGeom prst="roundRect">
            <a:avLst>
              <a:gd name="adj" fmla="val 2791"/>
            </a:avLst>
          </a:prstGeom>
          <a:solidFill>
            <a:srgbClr val="EAF0E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17830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5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INGREDIENTS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194560"/>
            <a:ext cx="33832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1000"/>
              </a:spcAft>
              <a:buSzPct val="100000"/>
              <a:buChar char="●"/>
            </a:pPr>
            <a:r>
              <a:rPr lang="en-US" sz="14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chicken pieces (thigh/drumstick)</a:t>
            </a:r>
            <a:endParaRPr lang="en-US" sz="1450" dirty="0"/>
          </a:p>
          <a:p>
            <a:pPr algn="l" marL="177800" indent="-177800">
              <a:spcAft>
                <a:spcPts val="1000"/>
              </a:spcAft>
              <a:buSzPct val="100000"/>
              <a:buChar char="●"/>
            </a:pPr>
            <a:r>
              <a:rPr lang="en-US" sz="14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onions</a:t>
            </a:r>
            <a:endParaRPr lang="en-US" sz="1450" dirty="0"/>
          </a:p>
          <a:p>
            <a:pPr algn="l" marL="177800" indent="-177800">
              <a:spcAft>
                <a:spcPts val="1000"/>
              </a:spcAft>
              <a:buSzPct val="100000"/>
              <a:buChar char="●"/>
            </a:pPr>
            <a:r>
              <a:rPr lang="en-US" sz="14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stock cubes</a:t>
            </a:r>
            <a:endParaRPr lang="en-US" sz="1450" dirty="0"/>
          </a:p>
          <a:p>
            <a:pPr algn="l" marL="177800" indent="-177800">
              <a:spcAft>
                <a:spcPts val="1000"/>
              </a:spcAft>
              <a:buSzPct val="100000"/>
              <a:buChar char="●"/>
            </a:pPr>
            <a:r>
              <a:rPr lang="en-US" sz="14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carrots</a:t>
            </a:r>
            <a:endParaRPr lang="en-US" sz="1450" dirty="0"/>
          </a:p>
          <a:p>
            <a:pPr algn="l" marL="177800" indent="-177800">
              <a:spcAft>
                <a:spcPts val="1000"/>
              </a:spcAft>
              <a:buSzPct val="100000"/>
              <a:buChar char="●"/>
            </a:pPr>
            <a:r>
              <a:rPr lang="en-US" sz="14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cup peas</a:t>
            </a:r>
            <a:endParaRPr lang="en-US" sz="1450" dirty="0"/>
          </a:p>
          <a:p>
            <a:pPr algn="l" marL="177800" indent="-177800">
              <a:spcAft>
                <a:spcPts val="1000"/>
              </a:spcAft>
              <a:buSzPct val="100000"/>
              <a:buChar char="●"/>
            </a:pPr>
            <a:r>
              <a:rPr lang="en-US" sz="14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can chickpeas, drained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4663440" y="1600200"/>
            <a:ext cx="3063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3DED7"/>
            </a:solidFill>
            <a:prstDash val="solid"/>
          </a:ln>
          <a:effectLst>
            <a:outerShdw sx="100000" sy="100000" kx="0" ky="0" algn="bl" rotWithShape="0" blurRad="76200" dist="25400" dir="5400000">
              <a:srgbClr val="B0AAA0">
                <a:alpha val="2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663440" y="170992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525</a:t>
            </a:r>
            <a:endParaRPr lang="en-US" sz="460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25146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kcal / serving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01000" y="1600200"/>
            <a:ext cx="3063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3DED7"/>
            </a:solidFill>
            <a:prstDash val="solid"/>
          </a:ln>
          <a:effectLst>
            <a:outerShdw sx="100000" sy="100000" kx="0" ky="0" algn="bl" rotWithShape="0" blurRad="76200" dist="25400" dir="5400000">
              <a:srgbClr val="B0AAA0">
                <a:alpha val="2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001000" y="170992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5C7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36g</a:t>
            </a:r>
            <a:endParaRPr lang="en-US" sz="4600" dirty="0"/>
          </a:p>
        </p:txBody>
      </p:sp>
      <p:sp>
        <p:nvSpPr>
          <p:cNvPr id="15" name="Text 13"/>
          <p:cNvSpPr txBox="1"/>
          <p:nvPr/>
        </p:nvSpPr>
        <p:spPr>
          <a:xfrm>
            <a:off x="8001000" y="25146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protein / serving</a:t>
            </a:r>
            <a:endParaRPr lang="en-US" sz="1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3246120"/>
          <a:ext cx="6400800" cy="914400"/>
        </p:xfrm>
        <a:graphic>
          <a:graphicData uri="http://schemas.openxmlformats.org/drawingml/2006/table">
            <a:tbl>
              <a:tblPr/>
              <a:tblGrid>
                <a:gridCol w="2133600"/>
                <a:gridCol w="2133600"/>
                <a:gridCol w="21336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CARBS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FIBER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19g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34g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5g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Text 14"/>
          <p:cNvSpPr txBox="1"/>
          <p:nvPr/>
        </p:nvSpPr>
        <p:spPr>
          <a:xfrm>
            <a:off x="4663440" y="4206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MICRONUTRIENTS PER SERVING</a:t>
            </a:r>
            <a:endParaRPr lang="en-US" sz="11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4526280"/>
          <a:ext cx="6400800" cy="1234440"/>
        </p:xfrm>
        <a:graphic>
          <a:graphicData uri="http://schemas.openxmlformats.org/drawingml/2006/table">
            <a:tbl>
              <a:tblPr/>
              <a:tblGrid>
                <a:gridCol w="1066800"/>
                <a:gridCol w="1066800"/>
                <a:gridCol w="1066800"/>
                <a:gridCol w="1066800"/>
                <a:gridCol w="1066800"/>
                <a:gridCol w="1066800"/>
              </a:tblGrid>
              <a:tr h="6172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Sodium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7BEA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Potassium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7BEA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Vit 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7BEA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Vit 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7BEA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7BEA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Calcium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7BEAE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538mg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698mg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377mcg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9mg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3mg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62mg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961120" y="411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 3 OF 7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657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Beef Stew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24128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A7BEA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102412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FREEZER-FRIENDLY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3246120" y="102412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Serves 8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3931920" cy="4572000"/>
          </a:xfrm>
          <a:prstGeom prst="roundRect">
            <a:avLst>
              <a:gd name="adj" fmla="val 2791"/>
            </a:avLst>
          </a:prstGeom>
          <a:solidFill>
            <a:srgbClr val="EAF0E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17830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5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INGREDIENTS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194560"/>
            <a:ext cx="33832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1000"/>
              </a:spcAft>
              <a:buSzPct val="100000"/>
              <a:buChar char="●"/>
            </a:pPr>
            <a:r>
              <a:rPr lang="en-US" sz="14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kg stewing beef</a:t>
            </a:r>
            <a:endParaRPr lang="en-US" sz="1450" dirty="0"/>
          </a:p>
          <a:p>
            <a:pPr algn="l" marL="177800" indent="-177800">
              <a:spcAft>
                <a:spcPts val="1000"/>
              </a:spcAft>
              <a:buSzPct val="100000"/>
              <a:buChar char="●"/>
            </a:pPr>
            <a:r>
              <a:rPr lang="en-US" sz="14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onions</a:t>
            </a:r>
            <a:endParaRPr lang="en-US" sz="1450" dirty="0"/>
          </a:p>
          <a:p>
            <a:pPr algn="l" marL="177800" indent="-177800">
              <a:spcAft>
                <a:spcPts val="1000"/>
              </a:spcAft>
              <a:buSzPct val="100000"/>
              <a:buChar char="●"/>
            </a:pPr>
            <a:r>
              <a:rPr lang="en-US" sz="14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carrots</a:t>
            </a:r>
            <a:endParaRPr lang="en-US" sz="1450" dirty="0"/>
          </a:p>
          <a:p>
            <a:pPr algn="l" marL="177800" indent="-177800">
              <a:spcAft>
                <a:spcPts val="1000"/>
              </a:spcAft>
              <a:buSzPct val="100000"/>
              <a:buChar char="●"/>
            </a:pPr>
            <a:r>
              <a:rPr lang="en-US" sz="14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stock cubes</a:t>
            </a:r>
            <a:endParaRPr lang="en-US" sz="1450" dirty="0"/>
          </a:p>
          <a:p>
            <a:pPr algn="l" marL="177800" indent="-177800">
              <a:spcAft>
                <a:spcPts val="1000"/>
              </a:spcAft>
              <a:buSzPct val="100000"/>
              <a:buChar char="●"/>
            </a:pPr>
            <a:r>
              <a:rPr lang="en-US" sz="14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cups brown beans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4663440" y="1600200"/>
            <a:ext cx="3063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3DED7"/>
            </a:solidFill>
            <a:prstDash val="solid"/>
          </a:ln>
          <a:effectLst>
            <a:outerShdw sx="100000" sy="100000" kx="0" ky="0" algn="bl" rotWithShape="0" blurRad="76200" dist="25400" dir="5400000">
              <a:srgbClr val="B0AAA0">
                <a:alpha val="2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663440" y="170992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739</a:t>
            </a:r>
            <a:endParaRPr lang="en-US" sz="460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25146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kcal / serving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01000" y="1600200"/>
            <a:ext cx="3063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3DED7"/>
            </a:solidFill>
            <a:prstDash val="solid"/>
          </a:ln>
          <a:effectLst>
            <a:outerShdw sx="100000" sy="100000" kx="0" ky="0" algn="bl" rotWithShape="0" blurRad="76200" dist="25400" dir="5400000">
              <a:srgbClr val="B0AAA0">
                <a:alpha val="2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001000" y="170992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5C7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71g</a:t>
            </a:r>
            <a:endParaRPr lang="en-US" sz="4600" dirty="0"/>
          </a:p>
        </p:txBody>
      </p:sp>
      <p:sp>
        <p:nvSpPr>
          <p:cNvPr id="15" name="Text 13"/>
          <p:cNvSpPr txBox="1"/>
          <p:nvPr/>
        </p:nvSpPr>
        <p:spPr>
          <a:xfrm>
            <a:off x="8001000" y="25146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protein / serving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3246120"/>
          <a:ext cx="6400800" cy="914400"/>
        </p:xfrm>
        <a:graphic>
          <a:graphicData uri="http://schemas.openxmlformats.org/drawingml/2006/table">
            <a:tbl>
              <a:tblPr/>
              <a:tblGrid>
                <a:gridCol w="2133600"/>
                <a:gridCol w="2133600"/>
                <a:gridCol w="21336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CARBS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FIBER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22g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38g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6g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Text 14"/>
          <p:cNvSpPr txBox="1"/>
          <p:nvPr/>
        </p:nvSpPr>
        <p:spPr>
          <a:xfrm>
            <a:off x="4663440" y="4206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MICRONUTRIENTS PER SERVING</a:t>
            </a:r>
            <a:endParaRPr lang="en-US" sz="110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4526280"/>
          <a:ext cx="6400800" cy="1234440"/>
        </p:xfrm>
        <a:graphic>
          <a:graphicData uri="http://schemas.openxmlformats.org/drawingml/2006/table">
            <a:tbl>
              <a:tblPr/>
              <a:tblGrid>
                <a:gridCol w="1066800"/>
                <a:gridCol w="1066800"/>
                <a:gridCol w="1066800"/>
                <a:gridCol w="1066800"/>
                <a:gridCol w="1066800"/>
                <a:gridCol w="1066800"/>
              </a:tblGrid>
              <a:tr h="6172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Sodium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7BEA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Potassium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7BEA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Vit 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7BEA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Vit 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7BEA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7BEA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Calcium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7BEAE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608mg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1151mg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191mcg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4mg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7.9mg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70mg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961120" y="411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 4 OF 7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657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Stir Fried Rice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24128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A7BEA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102412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FREEZER-FRIENDLY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3246120" y="102412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Serves 8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3931920" cy="4572000"/>
          </a:xfrm>
          <a:prstGeom prst="roundRect">
            <a:avLst>
              <a:gd name="adj" fmla="val 2791"/>
            </a:avLst>
          </a:prstGeom>
          <a:solidFill>
            <a:srgbClr val="EAF0E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17830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5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INGREDIENTS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194560"/>
            <a:ext cx="33832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1000"/>
              </a:spcAft>
              <a:buSzPct val="100000"/>
              <a:buChar char="●"/>
            </a:pPr>
            <a:r>
              <a:rPr lang="en-US" sz="14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cups brown rice</a:t>
            </a:r>
            <a:endParaRPr lang="en-US" sz="1450" dirty="0"/>
          </a:p>
          <a:p>
            <a:pPr algn="l" marL="177800" indent="-177800">
              <a:spcAft>
                <a:spcPts val="1000"/>
              </a:spcAft>
              <a:buSzPct val="100000"/>
              <a:buChar char="●"/>
            </a:pPr>
            <a:r>
              <a:rPr lang="en-US" sz="14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cup peas</a:t>
            </a:r>
            <a:endParaRPr lang="en-US" sz="1450" dirty="0"/>
          </a:p>
          <a:p>
            <a:pPr algn="l" marL="177800" indent="-177800">
              <a:spcAft>
                <a:spcPts val="1000"/>
              </a:spcAft>
              <a:buSzPct val="100000"/>
              <a:buChar char="●"/>
            </a:pPr>
            <a:r>
              <a:rPr lang="en-US" sz="14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carrots</a:t>
            </a:r>
            <a:endParaRPr lang="en-US" sz="1450" dirty="0"/>
          </a:p>
          <a:p>
            <a:pPr algn="l" marL="177800" indent="-177800">
              <a:spcAft>
                <a:spcPts val="1000"/>
              </a:spcAft>
              <a:buSzPct val="100000"/>
              <a:buChar char="●"/>
            </a:pPr>
            <a:r>
              <a:rPr lang="en-US" sz="14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eggs</a:t>
            </a:r>
            <a:endParaRPr lang="en-US" sz="1450" dirty="0"/>
          </a:p>
          <a:p>
            <a:pPr algn="l" marL="177800" indent="-177800">
              <a:spcAft>
                <a:spcPts val="1000"/>
              </a:spcAft>
              <a:buSzPct val="100000"/>
              <a:buChar char="●"/>
            </a:pPr>
            <a:r>
              <a:rPr lang="en-US" sz="14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cup egg whites</a:t>
            </a:r>
            <a:endParaRPr lang="en-US" sz="1450" dirty="0"/>
          </a:p>
          <a:p>
            <a:pPr algn="l" marL="177800" indent="-177800">
              <a:spcAft>
                <a:spcPts val="1000"/>
              </a:spcAft>
              <a:buSzPct val="100000"/>
              <a:buChar char="●"/>
            </a:pPr>
            <a:r>
              <a:rPr lang="en-US" sz="14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tbsp soy sauce</a:t>
            </a:r>
            <a:endParaRPr lang="en-US" sz="1450" dirty="0"/>
          </a:p>
          <a:p>
            <a:pPr algn="l" marL="177800" indent="-177800">
              <a:spcAft>
                <a:spcPts val="1000"/>
              </a:spcAft>
              <a:buSzPct val="100000"/>
              <a:buChar char="●"/>
            </a:pPr>
            <a:r>
              <a:rPr lang="en-US" sz="14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onion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4663440" y="1600200"/>
            <a:ext cx="3063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3DED7"/>
            </a:solidFill>
            <a:prstDash val="solid"/>
          </a:ln>
          <a:effectLst>
            <a:outerShdw sx="100000" sy="100000" kx="0" ky="0" algn="bl" rotWithShape="0" blurRad="76200" dist="25400" dir="5400000">
              <a:srgbClr val="B0AAA0">
                <a:alpha val="2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663440" y="170992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432</a:t>
            </a:r>
            <a:endParaRPr lang="en-US" sz="460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25146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kcal / serving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01000" y="1600200"/>
            <a:ext cx="3063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3DED7"/>
            </a:solidFill>
            <a:prstDash val="solid"/>
          </a:ln>
          <a:effectLst>
            <a:outerShdw sx="100000" sy="100000" kx="0" ky="0" algn="bl" rotWithShape="0" blurRad="76200" dist="25400" dir="5400000">
              <a:srgbClr val="B0AAA0">
                <a:alpha val="2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001000" y="170992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5C7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16g</a:t>
            </a:r>
            <a:endParaRPr lang="en-US" sz="4600" dirty="0"/>
          </a:p>
        </p:txBody>
      </p:sp>
      <p:sp>
        <p:nvSpPr>
          <p:cNvPr id="15" name="Text 13"/>
          <p:cNvSpPr txBox="1"/>
          <p:nvPr/>
        </p:nvSpPr>
        <p:spPr>
          <a:xfrm>
            <a:off x="8001000" y="25146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protein / serving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3246120"/>
          <a:ext cx="6400800" cy="914400"/>
        </p:xfrm>
        <a:graphic>
          <a:graphicData uri="http://schemas.openxmlformats.org/drawingml/2006/table">
            <a:tbl>
              <a:tblPr/>
              <a:tblGrid>
                <a:gridCol w="2133600"/>
                <a:gridCol w="2133600"/>
                <a:gridCol w="21336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CARBS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FIBER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79g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5g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5g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Text 14"/>
          <p:cNvSpPr txBox="1"/>
          <p:nvPr/>
        </p:nvSpPr>
        <p:spPr>
          <a:xfrm>
            <a:off x="4663440" y="4206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MICRONUTRIENTS PER SERVING</a:t>
            </a:r>
            <a:endParaRPr lang="en-US" sz="110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4526280"/>
          <a:ext cx="6400800" cy="1234440"/>
        </p:xfrm>
        <a:graphic>
          <a:graphicData uri="http://schemas.openxmlformats.org/drawingml/2006/table">
            <a:tbl>
              <a:tblPr/>
              <a:tblGrid>
                <a:gridCol w="1066800"/>
                <a:gridCol w="1066800"/>
                <a:gridCol w="1066800"/>
                <a:gridCol w="1066800"/>
                <a:gridCol w="1066800"/>
                <a:gridCol w="1066800"/>
              </a:tblGrid>
              <a:tr h="6172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Sodium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7BEA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Potassium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7BEA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Vit 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7BEA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Vit 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7BEA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7BEA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Calcium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7BEAE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330mg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419mg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179mcg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5mg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2.3mg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52mg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961120" y="411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 5 OF 7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657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Potato Salad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24128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B8504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102412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FRIDGE ONLY · 4-5 DAYS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3246120" y="102412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Serves 4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3931920" cy="4572000"/>
          </a:xfrm>
          <a:prstGeom prst="roundRect">
            <a:avLst>
              <a:gd name="adj" fmla="val 2791"/>
            </a:avLst>
          </a:prstGeom>
          <a:solidFill>
            <a:srgbClr val="EAF0E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17830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5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INGREDIENTS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194560"/>
            <a:ext cx="33832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1000"/>
              </a:spcAft>
              <a:buSzPct val="100000"/>
              <a:buChar char="●"/>
            </a:pPr>
            <a:r>
              <a:rPr lang="en-US" sz="14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potatoes</a:t>
            </a:r>
            <a:endParaRPr lang="en-US" sz="1450" dirty="0"/>
          </a:p>
          <a:p>
            <a:pPr algn="l" marL="177800" indent="-177800">
              <a:spcAft>
                <a:spcPts val="1000"/>
              </a:spcAft>
              <a:buSzPct val="100000"/>
              <a:buChar char="●"/>
            </a:pPr>
            <a:r>
              <a:rPr lang="en-US" sz="14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tbsp mayonnaise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4663440" y="1600200"/>
            <a:ext cx="3063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3DED7"/>
            </a:solidFill>
            <a:prstDash val="solid"/>
          </a:ln>
          <a:effectLst>
            <a:outerShdw sx="100000" sy="100000" kx="0" ky="0" algn="bl" rotWithShape="0" blurRad="76200" dist="25400" dir="5400000">
              <a:srgbClr val="B0AAA0">
                <a:alpha val="2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663440" y="170992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267</a:t>
            </a:r>
            <a:endParaRPr lang="en-US" sz="460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25146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kcal / serving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01000" y="1600200"/>
            <a:ext cx="3063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3DED7"/>
            </a:solidFill>
            <a:prstDash val="solid"/>
          </a:ln>
          <a:effectLst>
            <a:outerShdw sx="100000" sy="100000" kx="0" ky="0" algn="bl" rotWithShape="0" blurRad="76200" dist="25400" dir="5400000">
              <a:srgbClr val="B0AAA0">
                <a:alpha val="2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001000" y="170992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5C7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5g</a:t>
            </a:r>
            <a:endParaRPr lang="en-US" sz="4600" dirty="0"/>
          </a:p>
        </p:txBody>
      </p:sp>
      <p:sp>
        <p:nvSpPr>
          <p:cNvPr id="15" name="Text 13"/>
          <p:cNvSpPr txBox="1"/>
          <p:nvPr/>
        </p:nvSpPr>
        <p:spPr>
          <a:xfrm>
            <a:off x="8001000" y="25146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protein / serving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3246120"/>
          <a:ext cx="6400800" cy="914400"/>
        </p:xfrm>
        <a:graphic>
          <a:graphicData uri="http://schemas.openxmlformats.org/drawingml/2006/table">
            <a:tbl>
              <a:tblPr/>
              <a:tblGrid>
                <a:gridCol w="2133600"/>
                <a:gridCol w="2133600"/>
                <a:gridCol w="21336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CARBS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FIBER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45g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8g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6g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Text 14"/>
          <p:cNvSpPr txBox="1"/>
          <p:nvPr/>
        </p:nvSpPr>
        <p:spPr>
          <a:xfrm>
            <a:off x="4663440" y="4206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MICRONUTRIENTS PER SERVING</a:t>
            </a:r>
            <a:endParaRPr lang="en-US" sz="11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4526280"/>
          <a:ext cx="6400800" cy="1234440"/>
        </p:xfrm>
        <a:graphic>
          <a:graphicData uri="http://schemas.openxmlformats.org/drawingml/2006/table">
            <a:tbl>
              <a:tblPr/>
              <a:tblGrid>
                <a:gridCol w="1066800"/>
                <a:gridCol w="1066800"/>
                <a:gridCol w="1066800"/>
                <a:gridCol w="1066800"/>
                <a:gridCol w="1066800"/>
                <a:gridCol w="1066800"/>
              </a:tblGrid>
              <a:tr h="6172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Sodium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7BEA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Potassium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7BEA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Vit 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7BEA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Vit 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7BEA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7BEA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Calcium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7BEAE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81mg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1085mg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9mcg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50mg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2.1mg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31mg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961120" y="411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 6 OF 7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657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Chicken Mayo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24128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B8504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102412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FRIDGE ONLY · 4-5 DAYS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3246120" y="102412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Serves 4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3931920" cy="4572000"/>
          </a:xfrm>
          <a:prstGeom prst="roundRect">
            <a:avLst>
              <a:gd name="adj" fmla="val 2791"/>
            </a:avLst>
          </a:prstGeom>
          <a:solidFill>
            <a:srgbClr val="EAF0E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17830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5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INGREDIENTS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194560"/>
            <a:ext cx="33832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1000"/>
              </a:spcAft>
              <a:buSzPct val="100000"/>
              <a:buChar char="●"/>
            </a:pPr>
            <a:r>
              <a:rPr lang="en-US" sz="14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chicken breasts</a:t>
            </a:r>
            <a:endParaRPr lang="en-US" sz="1450" dirty="0"/>
          </a:p>
          <a:p>
            <a:pPr algn="l" marL="177800" indent="-177800">
              <a:spcAft>
                <a:spcPts val="1000"/>
              </a:spcAft>
              <a:buSzPct val="100000"/>
              <a:buChar char="●"/>
            </a:pPr>
            <a:r>
              <a:rPr lang="en-US" sz="14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tbsp mayonnaise</a:t>
            </a:r>
            <a:endParaRPr lang="en-US" sz="1450" dirty="0"/>
          </a:p>
          <a:p>
            <a:pPr algn="l" marL="177800" indent="-177800">
              <a:spcAft>
                <a:spcPts val="1000"/>
              </a:spcAft>
              <a:buSzPct val="100000"/>
              <a:buChar char="●"/>
            </a:pPr>
            <a:r>
              <a:rPr lang="en-US" sz="14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olives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4663440" y="1600200"/>
            <a:ext cx="3063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3DED7"/>
            </a:solidFill>
            <a:prstDash val="solid"/>
          </a:ln>
          <a:effectLst>
            <a:outerShdw sx="100000" sy="100000" kx="0" ky="0" algn="bl" rotWithShape="0" blurRad="76200" dist="25400" dir="5400000">
              <a:srgbClr val="B0AAA0">
                <a:alpha val="2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663440" y="170992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314</a:t>
            </a:r>
            <a:endParaRPr lang="en-US" sz="460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25146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kcal / serving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01000" y="1600200"/>
            <a:ext cx="3063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3DED7"/>
            </a:solidFill>
            <a:prstDash val="solid"/>
          </a:ln>
          <a:effectLst>
            <a:outerShdw sx="100000" sy="100000" kx="0" ky="0" algn="bl" rotWithShape="0" blurRad="76200" dist="25400" dir="5400000">
              <a:srgbClr val="B0AAA0">
                <a:alpha val="2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001000" y="170992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5C7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39g</a:t>
            </a:r>
            <a:endParaRPr lang="en-US" sz="4600" dirty="0"/>
          </a:p>
        </p:txBody>
      </p:sp>
      <p:sp>
        <p:nvSpPr>
          <p:cNvPr id="15" name="Text 13"/>
          <p:cNvSpPr txBox="1"/>
          <p:nvPr/>
        </p:nvSpPr>
        <p:spPr>
          <a:xfrm>
            <a:off x="8001000" y="25146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protein / serving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3246120"/>
          <a:ext cx="6400800" cy="914400"/>
        </p:xfrm>
        <a:graphic>
          <a:graphicData uri="http://schemas.openxmlformats.org/drawingml/2006/table">
            <a:tbl>
              <a:tblPr/>
              <a:tblGrid>
                <a:gridCol w="2133600"/>
                <a:gridCol w="2133600"/>
                <a:gridCol w="21336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CARBS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FIBER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1g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16g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0g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Text 14"/>
          <p:cNvSpPr txBox="1"/>
          <p:nvPr/>
        </p:nvSpPr>
        <p:spPr>
          <a:xfrm>
            <a:off x="4663440" y="4206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MICRONUTRIENTS PER SERVING</a:t>
            </a:r>
            <a:endParaRPr lang="en-US" sz="110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4526280"/>
          <a:ext cx="6400800" cy="1234440"/>
        </p:xfrm>
        <a:graphic>
          <a:graphicData uri="http://schemas.openxmlformats.org/drawingml/2006/table">
            <a:tbl>
              <a:tblPr/>
              <a:tblGrid>
                <a:gridCol w="1066800"/>
                <a:gridCol w="1066800"/>
                <a:gridCol w="1066800"/>
                <a:gridCol w="1066800"/>
                <a:gridCol w="1066800"/>
                <a:gridCol w="1066800"/>
              </a:tblGrid>
              <a:tr h="6172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Sodium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7BEA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Potassium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7BEA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Vit 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7BEA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Vit 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7BEA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7BEA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Calcium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7BEAE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321mg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450mg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17mcg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0mg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0.9mg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12mg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961120" y="411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 7 OF 7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657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Bean Salad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24128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B8504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102412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FRIDGE ONLY · 4-5 DAYS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3246120" y="102412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Serves 4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3931920" cy="4572000"/>
          </a:xfrm>
          <a:prstGeom prst="roundRect">
            <a:avLst>
              <a:gd name="adj" fmla="val 2791"/>
            </a:avLst>
          </a:prstGeom>
          <a:solidFill>
            <a:srgbClr val="EAF0E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17830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5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INGREDIENTS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194560"/>
            <a:ext cx="33832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1000"/>
              </a:spcAft>
              <a:buSzPct val="100000"/>
              <a:buChar char="●"/>
            </a:pPr>
            <a:r>
              <a:rPr lang="en-US" sz="14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can kidney beans, drained</a:t>
            </a:r>
            <a:endParaRPr lang="en-US" sz="1450" dirty="0"/>
          </a:p>
          <a:p>
            <a:pPr algn="l" marL="177800" indent="-177800">
              <a:spcAft>
                <a:spcPts val="1000"/>
              </a:spcAft>
              <a:buSzPct val="100000"/>
              <a:buChar char="●"/>
            </a:pPr>
            <a:r>
              <a:rPr lang="en-US" sz="14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can cannellini beans, drained</a:t>
            </a:r>
            <a:endParaRPr lang="en-US" sz="1450" dirty="0"/>
          </a:p>
          <a:p>
            <a:pPr algn="l" marL="177800" indent="-177800">
              <a:spcAft>
                <a:spcPts val="1000"/>
              </a:spcAft>
              <a:buSzPct val="100000"/>
              <a:buChar char="●"/>
            </a:pPr>
            <a:r>
              <a:rPr lang="en-US" sz="14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cups green beans</a:t>
            </a:r>
            <a:endParaRPr lang="en-US" sz="1450" dirty="0"/>
          </a:p>
          <a:p>
            <a:pPr algn="l" marL="177800" indent="-177800">
              <a:spcAft>
                <a:spcPts val="1000"/>
              </a:spcAft>
              <a:buSzPct val="100000"/>
              <a:buChar char="●"/>
            </a:pPr>
            <a:r>
              <a:rPr lang="en-US" sz="14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small onion</a:t>
            </a:r>
            <a:endParaRPr lang="en-US" sz="1450" dirty="0"/>
          </a:p>
          <a:p>
            <a:pPr algn="l" marL="177800" indent="-177800">
              <a:spcAft>
                <a:spcPts val="1000"/>
              </a:spcAft>
              <a:buSzPct val="100000"/>
              <a:buChar char="●"/>
            </a:pPr>
            <a:r>
              <a:rPr lang="en-US" sz="14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tbsp olive oil</a:t>
            </a:r>
            <a:endParaRPr lang="en-US" sz="1450" dirty="0"/>
          </a:p>
          <a:p>
            <a:pPr algn="l" marL="177800" indent="-177800">
              <a:spcAft>
                <a:spcPts val="1000"/>
              </a:spcAft>
              <a:buSzPct val="100000"/>
              <a:buChar char="●"/>
            </a:pPr>
            <a:r>
              <a:rPr lang="en-US" sz="14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tbsp vinegar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4663440" y="1600200"/>
            <a:ext cx="3063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3DED7"/>
            </a:solidFill>
            <a:prstDash val="solid"/>
          </a:ln>
          <a:effectLst>
            <a:outerShdw sx="100000" sy="100000" kx="0" ky="0" algn="bl" rotWithShape="0" blurRad="76200" dist="25400" dir="5400000">
              <a:srgbClr val="B0AAA0">
                <a:alpha val="2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663440" y="170992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273</a:t>
            </a:r>
            <a:endParaRPr lang="en-US" sz="460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25146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kcal / serving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01000" y="1600200"/>
            <a:ext cx="3063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3DED7"/>
            </a:solidFill>
            <a:prstDash val="solid"/>
          </a:ln>
          <a:effectLst>
            <a:outerShdw sx="100000" sy="100000" kx="0" ky="0" algn="bl" rotWithShape="0" blurRad="76200" dist="25400" dir="5400000">
              <a:srgbClr val="B0AAA0">
                <a:alpha val="2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001000" y="170992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5C7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12g</a:t>
            </a:r>
            <a:endParaRPr lang="en-US" sz="4600" dirty="0"/>
          </a:p>
        </p:txBody>
      </p:sp>
      <p:sp>
        <p:nvSpPr>
          <p:cNvPr id="15" name="Text 13"/>
          <p:cNvSpPr txBox="1"/>
          <p:nvPr/>
        </p:nvSpPr>
        <p:spPr>
          <a:xfrm>
            <a:off x="8001000" y="25146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protein / serving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3246120"/>
          <a:ext cx="6400800" cy="914400"/>
        </p:xfrm>
        <a:graphic>
          <a:graphicData uri="http://schemas.openxmlformats.org/drawingml/2006/table">
            <a:tbl>
              <a:tblPr/>
              <a:tblGrid>
                <a:gridCol w="2133600"/>
                <a:gridCol w="2133600"/>
                <a:gridCol w="21336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CARBS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FIBER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34g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11g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10g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Text 14"/>
          <p:cNvSpPr txBox="1"/>
          <p:nvPr/>
        </p:nvSpPr>
        <p:spPr>
          <a:xfrm>
            <a:off x="4663440" y="4206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MICRONUTRIENTS PER SERVING</a:t>
            </a:r>
            <a:endParaRPr lang="en-US" sz="11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4526280"/>
          <a:ext cx="6400800" cy="1234440"/>
        </p:xfrm>
        <a:graphic>
          <a:graphicData uri="http://schemas.openxmlformats.org/drawingml/2006/table">
            <a:tbl>
              <a:tblPr/>
              <a:tblGrid>
                <a:gridCol w="1066800"/>
                <a:gridCol w="1066800"/>
                <a:gridCol w="1066800"/>
                <a:gridCol w="1066800"/>
                <a:gridCol w="1066800"/>
                <a:gridCol w="1066800"/>
              </a:tblGrid>
              <a:tr h="6172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Sodium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7BEA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Potassium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7BEA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Vit 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7BEA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Vit 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7BEA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7BEA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Calcium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7BEAE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364mg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717mg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18mcg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8mg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3.8mg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94mg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B850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-1371600"/>
            <a:ext cx="3657600" cy="3657600"/>
          </a:xfrm>
          <a:prstGeom prst="ellipse">
            <a:avLst/>
          </a:prstGeom>
          <a:solidFill>
            <a:srgbClr val="C96A5C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5029200"/>
            <a:ext cx="3840480" cy="3840480"/>
          </a:xfrm>
          <a:prstGeom prst="ellipse">
            <a:avLst/>
          </a:prstGeom>
          <a:solidFill>
            <a:srgbClr val="A6453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Storage &amp; Reheating Notes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5166360" cy="1188720"/>
          </a:xfrm>
          <a:prstGeom prst="roundRect">
            <a:avLst>
              <a:gd name="adj" fmla="val 6154"/>
            </a:avLst>
          </a:prstGeom>
          <a:solidFill>
            <a:srgbClr val="A6453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60120" y="1709928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1984248"/>
            <a:ext cx="4709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Rectangular, stackable, freezer-safe — more efficient than round. Keep a small set just for toddler portions.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46520" y="1600200"/>
            <a:ext cx="5166360" cy="1188720"/>
          </a:xfrm>
          <a:prstGeom prst="roundRect">
            <a:avLst>
              <a:gd name="adj" fmla="val 6154"/>
            </a:avLst>
          </a:prstGeom>
          <a:solidFill>
            <a:srgbClr val="A6453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675120" y="1709928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COOLING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675120" y="1984248"/>
            <a:ext cx="4709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 to room temperature (max 1-2 hrs out) before sealing and freezing to avoid ice crystals and soggy veg.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31520" y="3017520"/>
            <a:ext cx="5166360" cy="1188720"/>
          </a:xfrm>
          <a:prstGeom prst="roundRect">
            <a:avLst>
              <a:gd name="adj" fmla="val 6154"/>
            </a:avLst>
          </a:prstGeom>
          <a:solidFill>
            <a:srgbClr val="A6453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60120" y="3127248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LABELING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960120" y="3401568"/>
            <a:ext cx="4709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Meal name + date on every container. Best quality within 3 months; stays safe to eat longer.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46520" y="3017520"/>
            <a:ext cx="5166360" cy="1188720"/>
          </a:xfrm>
          <a:prstGeom prst="roundRect">
            <a:avLst>
              <a:gd name="adj" fmla="val 6154"/>
            </a:avLst>
          </a:prstGeom>
          <a:solidFill>
            <a:srgbClr val="A6453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675120" y="3127248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THAWING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675120" y="3401568"/>
            <a:ext cx="4709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Overnight in the fridge is best for texture. Microwave from frozen works too — cover, add a splash of liquid, stir halfway.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31520" y="4434840"/>
            <a:ext cx="5166360" cy="1188720"/>
          </a:xfrm>
          <a:prstGeom prst="roundRect">
            <a:avLst>
              <a:gd name="adj" fmla="val 6154"/>
            </a:avLst>
          </a:prstGeom>
          <a:solidFill>
            <a:srgbClr val="A6453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60120" y="4544568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FRIDGE-ONLY ITEMS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960120" y="4818888"/>
            <a:ext cx="4709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Couscous salad, potato salad, chicken mayo, and three bean salad don't freeze well — keep these in the fridge, 4-5 days.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2026-08-30T15:21:15Z</dcterms:created>
  <dcterms:modified xsi:type="dcterms:W3CDTF">2026-08-30T15:21:15Z</dcterms:modified>
</cp:coreProperties>
</file>